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490472"/>
            <a:ext cx="2834640" cy="184708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rIns="182880" rtlCol="0" anchor="ctr"/>
          <a:lstStyle/>
          <a:p>
            <a:pPr algn="ctr"/>
            <a:r>
              <a:rPr sz="5400">
                <a:solidFill>
                  <a:srgbClr val="FFFFFF"/>
                </a:solidFill>
                <a:latin typeface="Roboto Slab Light"/>
              </a:rPr>
              <a:t>IS3513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490472"/>
            <a:ext cx="8625535" cy="18470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182880" rtlCol="0" anchor="ctr"/>
          <a:lstStyle/>
          <a:p>
            <a:pPr algn="l"/>
            <a:r>
              <a:rPr sz="5400">
                <a:solidFill>
                  <a:srgbClr val="FFFFFF"/>
                </a:solidFill>
                <a:latin typeface="Roboto Slab Light"/>
              </a:rPr>
              <a:t>Information Assurance and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337560"/>
            <a:ext cx="11460175" cy="65836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36576" rIns="182880" bIns="36576" rtlCol="0" anchor="ctr"/>
          <a:lstStyle/>
          <a:p>
            <a:pPr algn="l"/>
            <a:r>
              <a:rPr sz="2800" b="1">
                <a:solidFill>
                  <a:srgbClr val="000000"/>
                </a:solidFill>
                <a:latin typeface="Roboto Slab"/>
              </a:rPr>
              <a:t>Welcome — NEXUS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337560"/>
            <a:ext cx="36576" cy="65836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4407408"/>
            <a:ext cx="11460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Roboto Black"/>
              </a:rPr>
              <a:t>PROF. JOHN NEWSOM   ·   SUMMER 2026   ·   SECTION 0XX</a:t>
            </a:r>
          </a:p>
        </p:txBody>
      </p:sp>
      <p:pic>
        <p:nvPicPr>
          <p:cNvPr id="8" name="Picture 7" descr="nexu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069080"/>
            <a:ext cx="2039112" cy="2322576"/>
          </a:xfrm>
          <a:prstGeom prst="rect">
            <a:avLst/>
          </a:prstGeom>
        </p:spPr>
      </p:pic>
      <p:pic>
        <p:nvPicPr>
          <p:cNvPr id="9" name="Picture 8" descr="u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topic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Slide Title Goes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Subhead or context line in the yellow band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SECTION KICKER (H3 / UPPERCASE / ACCENT)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 Slab"/>
              </a:rPr>
              <a:t>Card heading — short and 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0B8C4"/>
                </a:solidFill>
                <a:latin typeface="Roboto Medium"/>
              </a:rPr>
              <a:t>Lead paragraph. One or two sentences setting up what this slide is about. Body text uses Roboto in the muted gray that matches the site's body color on dark cards.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38728"/>
            <a:ext cx="1082009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7B68EE"/>
                </a:solidFill>
                <a:latin typeface="Roboto Medium"/>
              </a:rPr>
              <a:t>●  </a:t>
            </a:r>
            <a:r>
              <a:rPr sz="1500">
                <a:solidFill>
                  <a:srgbClr val="B0B8C4"/>
                </a:solidFill>
                <a:latin typeface="Roboto Medium"/>
              </a:rPr>
              <a:t>Bullet point one — concise, action-oriented phrasing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7B68EE"/>
                </a:solidFill>
                <a:latin typeface="Roboto Medium"/>
              </a:rPr>
              <a:t>●  </a:t>
            </a:r>
            <a:r>
              <a:rPr sz="1500">
                <a:solidFill>
                  <a:srgbClr val="B0B8C4"/>
                </a:solidFill>
                <a:latin typeface="Roboto Medium"/>
              </a:rPr>
              <a:t>Bullet point two — student-facing language, conversational where it fits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7B68EE"/>
                </a:solidFill>
                <a:latin typeface="Roboto Medium"/>
              </a:rPr>
              <a:t>●  </a:t>
            </a:r>
            <a:r>
              <a:rPr sz="1500">
                <a:solidFill>
                  <a:srgbClr val="B0B8C4"/>
                </a:solidFill>
                <a:latin typeface="Roboto Medium"/>
              </a:rPr>
              <a:t>Bullet point three — keep each bullet to about one line at this size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7B68EE"/>
                </a:solidFill>
                <a:latin typeface="Roboto Medium"/>
              </a:rPr>
              <a:t>●  </a:t>
            </a:r>
            <a:r>
              <a:rPr sz="1500">
                <a:solidFill>
                  <a:srgbClr val="B0B8C4"/>
                </a:solidFill>
                <a:latin typeface="Roboto Medium"/>
              </a:rPr>
              <a:t>Bullet point four — break into a second slide when you hit five or six items</a:t>
            </a:r>
          </a:p>
        </p:txBody>
      </p:sp>
      <p:pic>
        <p:nvPicPr>
          <p:cNvPr id="14" name="Picture 13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topic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Two-Column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Side-by-side lists for parallel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5181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D26A"/>
                </a:solidFill>
                <a:latin typeface="Roboto Black"/>
              </a:rPr>
              <a:t>LEFT COLUMN KICKER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518144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Roboto Slab"/>
              </a:rPr>
              <a:t>What this is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51814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00D26A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First parallel item left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00D26A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Second parallel item left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00D26A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Third parallel item left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00D26A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Fourth parallel item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938528"/>
            <a:ext cx="5181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F2641"/>
                </a:solidFill>
                <a:latin typeface="Roboto Black"/>
              </a:rPr>
              <a:t>RIGHT COLUMN KICKER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212848"/>
            <a:ext cx="518144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Roboto Slab"/>
              </a:rPr>
              <a:t>What this isn't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807208"/>
            <a:ext cx="51814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2641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First parallel item right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2641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Second parallel item right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2641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Third parallel item right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2641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Fourth parallel item right</a:t>
            </a:r>
          </a:p>
        </p:txBody>
      </p:sp>
      <p:pic>
        <p:nvPicPr>
          <p:cNvPr id="16" name="Picture 15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intro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Portrait + Facts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For mentor profiles or instructor intro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121408"/>
            <a:ext cx="2743200" cy="27432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2376" y="2157984"/>
            <a:ext cx="2670048" cy="267004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3.0 × 3.0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938528"/>
            <a:ext cx="7619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ROLE OR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212848"/>
            <a:ext cx="7619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Roboto Slab"/>
              </a:rPr>
              <a:t>Person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807208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B68EE"/>
                </a:solidFill>
                <a:latin typeface="Roboto"/>
              </a:rPr>
              <a:t>One-line tagline in italic, sets the voice.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310128"/>
            <a:ext cx="761969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7B68EE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Title / position / affiliation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7B68EE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Background or experience point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7B68EE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Course role — what they teach or coach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7B68EE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Reach: how students contact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5230368"/>
            <a:ext cx="7619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B0B8C4"/>
                </a:solidFill>
                <a:latin typeface="Roboto Slab Light"/>
              </a:rPr>
              <a:t>“A short pull-quote that captures this person's perspective.”</a:t>
            </a:r>
          </a:p>
        </p:txBody>
      </p:sp>
      <p:pic>
        <p:nvPicPr>
          <p:cNvPr id="18" name="Picture 17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Meet Your Mentors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Five voices you'll hear all semester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2376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15" name="Oval 14"/>
          <p:cNvSpPr/>
          <p:nvPr/>
        </p:nvSpPr>
        <p:spPr>
          <a:xfrm>
            <a:off x="3002203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38779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02203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0763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0763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20" name="Oval 19"/>
          <p:cNvSpPr/>
          <p:nvPr/>
        </p:nvSpPr>
        <p:spPr>
          <a:xfrm>
            <a:off x="5318607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55183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8607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167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7167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25" name="Oval 24"/>
          <p:cNvSpPr/>
          <p:nvPr/>
        </p:nvSpPr>
        <p:spPr>
          <a:xfrm>
            <a:off x="7635011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71587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5011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571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571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30" name="Oval 29"/>
          <p:cNvSpPr/>
          <p:nvPr/>
        </p:nvSpPr>
        <p:spPr>
          <a:xfrm>
            <a:off x="9951415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87991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51415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9975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9975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18888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B0B8C4"/>
                </a:solidFill>
                <a:latin typeface="Roboto"/>
              </a:rPr>
              <a:t>Short framing line that sets up why these people matter.</a:t>
            </a:r>
          </a:p>
        </p:txBody>
      </p:sp>
      <p:pic>
        <p:nvPicPr>
          <p:cNvPr id="36" name="Picture 35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stats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Info Bar &amp; Stats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Quick numeric summary at the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3423818" cy="128016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6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103120"/>
            <a:ext cx="320436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0B8C4"/>
                </a:solidFill>
                <a:latin typeface="Roboto Black"/>
              </a:rPr>
              <a:t>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414016"/>
            <a:ext cx="320436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7B68EE"/>
                </a:solidFill>
                <a:latin typeface="Roboto Slab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3938" y="1938528"/>
            <a:ext cx="3423818" cy="128016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6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3666" y="2103120"/>
            <a:ext cx="320436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0B8C4"/>
                </a:solidFill>
                <a:latin typeface="Roboto Black"/>
              </a:rPr>
              <a:t>FOUNDATION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3666" y="2414016"/>
            <a:ext cx="320436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7B68EE"/>
                </a:solidFill>
                <a:latin typeface="Roboto Slab"/>
              </a:rPr>
              <a:t>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2076" y="1938528"/>
            <a:ext cx="3423818" cy="128016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6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1804" y="2103120"/>
            <a:ext cx="320436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0B8C4"/>
                </a:solidFill>
                <a:latin typeface="Roboto Black"/>
              </a:rPr>
              <a:t>ENGAGEMENT PACKETS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804" y="2414016"/>
            <a:ext cx="320436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7B68EE"/>
                </a:solidFill>
                <a:latin typeface="Roboto Slab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38728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0B8C4"/>
                </a:solidFill>
                <a:latin typeface="Roboto Medium"/>
              </a:rPr>
              <a:t>Use this layout when the slide's job is to anchor a quantitative claim — course structure, grading weights, time commitment.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53128"/>
            <a:ext cx="1082009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7B68EE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Each stat sits in its own bordered tile with centered content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7B68EE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Values use Roboto Slab in the slide accent color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7B68EE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Keep to 3 or 4 stats — more crowds the row</a:t>
            </a:r>
          </a:p>
        </p:txBody>
      </p:sp>
      <p:pic>
        <p:nvPicPr>
          <p:cNvPr id="21" name="Picture 20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313432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79192" y="365760"/>
            <a:ext cx="9146743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Three-Card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For Unit 1 / Unit 2 / Unit 3 or any 3-way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0B8C4"/>
                </a:solidFill>
                <a:latin typeface="Roboto Medium"/>
              </a:rPr>
              <a:t>Each module breaks into three units. Each unit has one Foundation Lab; the Engagement Packet sits inside Unit 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640080" cy="2194560"/>
          </a:xfrm>
          <a:prstGeom prst="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25880" y="2670048"/>
            <a:ext cx="2814218" cy="21945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90472" y="2779776"/>
            <a:ext cx="248503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D26A"/>
                </a:solidFill>
                <a:latin typeface="Roboto Black"/>
              </a:rPr>
              <a:t>UNIT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3017520"/>
            <a:ext cx="248503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383280"/>
            <a:ext cx="248503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Build the foundation. Concepts, environment setup, and first hands-on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2670048"/>
            <a:ext cx="640080" cy="219456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08778" y="2670048"/>
            <a:ext cx="2814218" cy="21945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73370" y="2779776"/>
            <a:ext cx="248503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BCD4"/>
                </a:solidFill>
                <a:latin typeface="Roboto Black"/>
              </a:rPr>
              <a:t>UNIT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370" y="3017520"/>
            <a:ext cx="248503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Training+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370" y="3383280"/>
            <a:ext cx="248503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Apply the foundation. Deeper exercises, more autonomy, fewer guardrails.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1596" y="2670048"/>
            <a:ext cx="640080" cy="21945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91676" y="2670048"/>
            <a:ext cx="2814218" cy="21945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56268" y="2779776"/>
            <a:ext cx="248503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UNIT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6268" y="3017520"/>
            <a:ext cx="248503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6268" y="3383280"/>
            <a:ext cx="248503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Client work. Combine the unit's skills into the Engagement Packet deliverable.</a:t>
            </a:r>
          </a:p>
        </p:txBody>
      </p:sp>
      <p:pic>
        <p:nvPicPr>
          <p:cNvPr id="26" name="Picture 25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911095" cy="868680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warning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276855" y="365760"/>
            <a:ext cx="954908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Warning / Hard-Truth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Use sparingly — when weight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F2641"/>
                </a:solidFill>
                <a:latin typeface="Roboto Black"/>
              </a:rPr>
              <a:t>READ THIS TWICE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 Slab"/>
              </a:rPr>
              <a:t>A statement that needs to land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44368"/>
            <a:ext cx="640080" cy="1371600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25880" y="2944368"/>
            <a:ext cx="10180015" cy="13716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0472" y="3054096"/>
            <a:ext cx="9850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F2641"/>
                </a:solidFill>
                <a:latin typeface="Roboto Black"/>
              </a:rPr>
              <a:t>THE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291840"/>
            <a:ext cx="9850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Stated in one sentence, no softening.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3657600"/>
            <a:ext cx="9850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Explanation of the rule, the rationale, and what happens if it's ignored. Body text stays calm even when the topic is sharp.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4568"/>
            <a:ext cx="1082009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FF2641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Supporting point one — concrete consequence or example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FF2641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Supporting point two — what the safety net looks like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FF2641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Supporting point three — what counts as the line</a:t>
            </a:r>
          </a:p>
        </p:txBody>
      </p:sp>
      <p:pic>
        <p:nvPicPr>
          <p:cNvPr id="18" name="Picture 17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911095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76855" y="365760"/>
            <a:ext cx="954908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Contact &amp; Support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How to reach me when you need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DISCORD FIRST, EMAIL FOR ANYTHING PERSONAL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Roboto Slab"/>
              </a:rPr>
              <a:t>How we talk to each other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0B8C4"/>
                </a:solidFill>
                <a:latin typeface="Roboto Medium"/>
              </a:rPr>
              <a:t>Discord for general questions and peer help. Email for anything personal or FERPA-sensitive. Calendly for 1-on-1 time. Tuesday 6 PM Central drop-in Zoom.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41648"/>
            <a:ext cx="2567863" cy="1280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4169664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68EE"/>
                </a:solidFill>
                <a:latin typeface="Roboto Black"/>
              </a:rPr>
              <a:t>DISCORD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425696"/>
            <a:ext cx="2238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Post in #course-questions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6543" y="4041648"/>
            <a:ext cx="2567863" cy="1280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1135" y="4169664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26A"/>
                </a:solidFill>
                <a:latin typeface="Roboto Black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135" y="4425696"/>
            <a:ext cx="2238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john.newsom@utsa.edu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4041648"/>
            <a:ext cx="2567863" cy="1280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1879" y="4169664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BCD4"/>
                </a:solidFill>
                <a:latin typeface="Roboto Black"/>
              </a:rPr>
              <a:t>CALENDLY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4425696"/>
            <a:ext cx="2238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1:1 by appointment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38031" y="4041648"/>
            <a:ext cx="2567863" cy="1280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02623" y="4169664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169E1"/>
                </a:solidFill>
                <a:latin typeface="Roboto Black"/>
              </a:rPr>
              <a:t>ZOOM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2623" y="4425696"/>
            <a:ext cx="2238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Tuesdays 6 PM Central</a:t>
            </a:r>
          </a:p>
        </p:txBody>
      </p:sp>
      <p:pic>
        <p:nvPicPr>
          <p:cNvPr id="25" name="Picture 24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709928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75688" y="365760"/>
            <a:ext cx="9750247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Module title in the yellow band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34238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8C4"/>
                </a:solidFill>
                <a:latin typeface="Roboto Black"/>
              </a:rPr>
              <a:t>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342381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Roboto Slab"/>
              </a:rPr>
              <a:t>3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1938528"/>
            <a:ext cx="34238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8C4"/>
                </a:solidFill>
                <a:latin typeface="Roboto Black"/>
              </a:rPr>
              <a:t>CHAPTERS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2194560"/>
            <a:ext cx="342381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Roboto Slab"/>
              </a:rPr>
              <a:t>Ch X &amp;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2076" y="1938528"/>
            <a:ext cx="34238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8C4"/>
                </a:solidFill>
                <a:latin typeface="Roboto Black"/>
              </a:rPr>
              <a:t>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2076" y="2194560"/>
            <a:ext cx="342381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9F1C"/>
                </a:solidFill>
                <a:latin typeface="Roboto Slab"/>
              </a:rPr>
              <a:t>Client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90088"/>
            <a:ext cx="10820095" cy="9525"/>
          </a:xfrm>
          <a:prstGeom prst="rect">
            <a:avLst/>
          </a:prstGeom>
          <a:solidFill>
            <a:srgbClr val="2A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172968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8C4"/>
                </a:solidFill>
                <a:latin typeface="Roboto Medium"/>
              </a:rPr>
              <a:t>Module overview — one or two sentences setting up what this module covers and how it connects to the client engagement at the 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950208"/>
            <a:ext cx="10820095" cy="5486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950208"/>
            <a:ext cx="914400" cy="548640"/>
          </a:xfrm>
          <a:prstGeom prst="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950208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0E17"/>
                </a:solidFill>
                <a:latin typeface="Roboto Black"/>
              </a:rPr>
              <a:t>LAB X.1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041648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Foundation lab title goes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1335" y="395020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26A"/>
                </a:solidFill>
                <a:latin typeface="Roboto Black"/>
              </a:rPr>
              <a:t>Internal 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608576"/>
            <a:ext cx="10820095" cy="5486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608576"/>
            <a:ext cx="914400" cy="548640"/>
          </a:xfrm>
          <a:prstGeom prst="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608576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0E17"/>
                </a:solidFill>
                <a:latin typeface="Roboto Black"/>
              </a:rPr>
              <a:t>LAB X.2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700016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Foundation lab title goes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1335" y="460857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26A"/>
                </a:solidFill>
                <a:latin typeface="Roboto Black"/>
              </a:rPr>
              <a:t>Internal Training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66944"/>
            <a:ext cx="10820095" cy="5486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5266944"/>
            <a:ext cx="914400" cy="5486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26694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0E17"/>
                </a:solidFill>
                <a:latin typeface="Roboto Black"/>
              </a:rPr>
              <a:t>LAB X.3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358384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Engagement Packet title 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1335" y="5266944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F1C"/>
                </a:solidFill>
                <a:latin typeface="Roboto Black"/>
              </a:rPr>
              <a:t>Client Billable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02368" y="1691640"/>
            <a:ext cx="1709928" cy="1709928"/>
          </a:xfrm>
          <a:prstGeom prst="roundRect">
            <a:avLst/>
          </a:prstGeom>
          <a:noFill/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02368" y="2194560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8C4"/>
                </a:solidFill>
                <a:latin typeface="Roboto Black"/>
              </a:rPr>
              <a:t>CLIENT
LOGO</a:t>
            </a:r>
          </a:p>
        </p:txBody>
      </p:sp>
      <p:pic>
        <p:nvPicPr>
          <p:cNvPr id="35" name="Picture 34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Stacked Callouts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When the content is a sequence of weighted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38528"/>
            <a:ext cx="640080" cy="1143000"/>
          </a:xfrm>
          <a:prstGeom prst="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25880" y="1938528"/>
            <a:ext cx="10180015" cy="1143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90472" y="2048256"/>
            <a:ext cx="9850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D26A"/>
                </a:solidFill>
                <a:latin typeface="Roboto Black"/>
              </a:rPr>
              <a:t>DO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286000"/>
            <a:ext cx="9850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Practice as you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651760"/>
            <a:ext cx="98508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First action item. Specific, time-bounded, achievable in the next 24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18688"/>
            <a:ext cx="640080" cy="1143000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25880" y="3218688"/>
            <a:ext cx="10180015" cy="1143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90472" y="3328416"/>
            <a:ext cx="9850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EC618"/>
                </a:solidFill>
                <a:latin typeface="Roboto Black"/>
              </a:rPr>
              <a:t>HEADS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566160"/>
            <a:ext cx="9850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One thing to 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931920"/>
            <a:ext cx="98508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A caution that's not a hard rule. Something that trips students up if they don't notice.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498848"/>
            <a:ext cx="640080" cy="1143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25880" y="4498848"/>
            <a:ext cx="10180015" cy="1143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90472" y="4608576"/>
            <a:ext cx="9850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BCD4"/>
                </a:solidFill>
                <a:latin typeface="Roboto Black"/>
              </a:rPr>
              <a:t>USEFUL TO KNOW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4846320"/>
            <a:ext cx="9850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Why this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0472" y="5212080"/>
            <a:ext cx="98508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Background context that helps the rest stick. Goes last because it's framing, not action.</a:t>
            </a:r>
          </a:p>
        </p:txBody>
      </p:sp>
      <p:pic>
        <p:nvPicPr>
          <p:cNvPr id="25" name="Picture 24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709928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2075688" y="365760"/>
            <a:ext cx="9750247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>
                <a:solidFill>
                  <a:srgbClr val="FFFFFF"/>
                </a:solidFill>
                <a:latin typeface="Roboto Slab Light"/>
              </a:rPr>
              <a:t>Rules &amp; Acknowledgment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Numbered rules with an ack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THE FOUR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50008"/>
            <a:ext cx="10820095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350008"/>
            <a:ext cx="502920" cy="5943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350008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boto Slab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423160"/>
            <a:ext cx="9987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Roboto Black"/>
              </a:rPr>
              <a:t>Rule title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642616"/>
            <a:ext cx="99879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8C4"/>
                </a:solidFill>
                <a:latin typeface="Roboto Medium"/>
              </a:rPr>
              <a:t>One-sentence explanation of what this rule means in practice.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054096"/>
            <a:ext cx="10820095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054096"/>
            <a:ext cx="502920" cy="5943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054096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boto Slab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127248"/>
            <a:ext cx="9987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Roboto Black"/>
              </a:rPr>
              <a:t>Rule title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346704"/>
            <a:ext cx="99879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8C4"/>
                </a:solidFill>
                <a:latin typeface="Roboto Medium"/>
              </a:rPr>
              <a:t>One-sentence explanation of what this rule means in practice.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758184"/>
            <a:ext cx="10820095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758184"/>
            <a:ext cx="502920" cy="5943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758184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boto Slab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831336"/>
            <a:ext cx="9987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Roboto Black"/>
              </a:rPr>
              <a:t>Rule title 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050792"/>
            <a:ext cx="99879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8C4"/>
                </a:solidFill>
                <a:latin typeface="Roboto Medium"/>
              </a:rPr>
              <a:t>One-sentence explanation of what this rule means in practice.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62272"/>
            <a:ext cx="10820095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4462272"/>
            <a:ext cx="502920" cy="5943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462272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boto Slab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535424"/>
            <a:ext cx="9987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Roboto Black"/>
              </a:rPr>
              <a:t>Rule title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4754880"/>
            <a:ext cx="99879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8C4"/>
                </a:solidFill>
                <a:latin typeface="Roboto Medium"/>
              </a:rPr>
              <a:t>One-sentence explanation of what this rule means in practice.</a:t>
            </a:r>
          </a:p>
        </p:txBody>
      </p:sp>
      <p:pic>
        <p:nvPicPr>
          <p:cNvPr id="31" name="Picture 30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871</Words>
  <Application>Microsoft Macintosh PowerPoint</Application>
  <PresentationFormat>Widescreen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Roboto</vt:lpstr>
      <vt:lpstr>Roboto Black</vt:lpstr>
      <vt:lpstr>Roboto Medium</vt:lpstr>
      <vt:lpstr>Roboto Slab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Newsom</cp:lastModifiedBy>
  <cp:revision>1</cp:revision>
  <dcterms:created xsi:type="dcterms:W3CDTF">2013-01-27T09:14:16Z</dcterms:created>
  <dcterms:modified xsi:type="dcterms:W3CDTF">2026-05-20T21:39:19Z</dcterms:modified>
  <cp:category/>
</cp:coreProperties>
</file>