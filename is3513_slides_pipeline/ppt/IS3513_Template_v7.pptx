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490472"/>
            <a:ext cx="2834640" cy="184708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0" rIns="182880" rtlCol="0" anchor="ctr"/>
          <a:lstStyle/>
          <a:p>
            <a:pPr algn="ctr"/>
            <a:r>
              <a:rPr sz="5400" b="1" dirty="0">
                <a:solidFill>
                  <a:srgbClr val="FFFFFF"/>
                </a:solidFill>
                <a:latin typeface="Roboto Slab Light"/>
              </a:rPr>
              <a:t>IS3513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90472"/>
            <a:ext cx="8625535" cy="18470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rIns="182880" rtlCol="0" anchor="ctr"/>
          <a:lstStyle/>
          <a:p>
            <a:pPr algn="l"/>
            <a:r>
              <a:rPr sz="5400" b="1">
                <a:solidFill>
                  <a:srgbClr val="FFFFFF"/>
                </a:solidFill>
                <a:latin typeface="Roboto Slab Light"/>
              </a:rPr>
              <a:t>Information Assurance and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337560"/>
            <a:ext cx="11460175" cy="65836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36576" rIns="182880" bIns="36576" rtlCol="0" anchor="ctr"/>
          <a:lstStyle/>
          <a:p>
            <a:pPr algn="l"/>
            <a:r>
              <a:rPr sz="2800" b="1">
                <a:solidFill>
                  <a:srgbClr val="000000"/>
                </a:solidFill>
                <a:latin typeface="Roboto Slab"/>
              </a:rPr>
              <a:t>Welcome: NEXUS Security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37560"/>
            <a:ext cx="36576" cy="65836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4407408"/>
            <a:ext cx="11460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Roboto Black"/>
              </a:rPr>
              <a:t>PROF. JOHN NEWSOM   ·   SUMMER 2026   ·   SECTION 0XX</a:t>
            </a:r>
          </a:p>
        </p:txBody>
      </p:sp>
      <p:pic>
        <p:nvPicPr>
          <p:cNvPr id="8" name="Picture 7" descr="nexu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069080"/>
            <a:ext cx="2039112" cy="2322576"/>
          </a:xfrm>
          <a:prstGeom prst="rect">
            <a:avLst/>
          </a:prstGeom>
        </p:spPr>
      </p:pic>
      <p:pic>
        <p:nvPicPr>
          <p:cNvPr id="9" name="Picture 8" descr="u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Slide Title Goes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Subhead or context line in the yellow 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SECTION KICKER (H3 / UPPERCASE / ACCENT)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 Slab"/>
              </a:rPr>
              <a:t>Card heading: short and direct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Lead paragraph. One or two sentences setting up what this slide is about. Body text uses Roboto in the muted gray that matches the site's body color on dark cards.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38728"/>
            <a:ext cx="1082009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one: concise, action-oriented phrasing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two: student-facing language, conversational where it fits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three: keep each bullet to about one line at this size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7B68EE"/>
                </a:solidFill>
                <a:latin typeface="Roboto Medium"/>
              </a:rPr>
              <a:t>●  </a:t>
            </a:r>
            <a:r>
              <a:rPr sz="1500">
                <a:solidFill>
                  <a:srgbClr val="B0B8C4"/>
                </a:solidFill>
                <a:latin typeface="Roboto Medium"/>
              </a:rPr>
              <a:t>Bullet point four: break into a second slide when you hit five or six items</a:t>
            </a:r>
          </a:p>
        </p:txBody>
      </p:sp>
      <p:pic>
        <p:nvPicPr>
          <p:cNvPr id="14" name="Picture 13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Two-Column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Side-by-side lists for parallel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5181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LEFT COLUMN KICKER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518144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 Slab"/>
              </a:rPr>
              <a:t>What this is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51814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First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Second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Third parallel item left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00D26A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Fourth parallel item left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1938528"/>
            <a:ext cx="518144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RIGHT COLUMN KICKER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2212848"/>
            <a:ext cx="518144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 Slab"/>
              </a:rPr>
              <a:t>What this isn't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2807208"/>
            <a:ext cx="51814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First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Second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Third parallel item right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FF2641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Fourth parallel item right</a:t>
            </a:r>
          </a:p>
        </p:txBody>
      </p:sp>
      <p:pic>
        <p:nvPicPr>
          <p:cNvPr id="16" name="Picture 1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intro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Portrait + Facts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For mentor profiles or instructor intro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121408"/>
            <a:ext cx="2743200" cy="27432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" y="2157984"/>
            <a:ext cx="2670048" cy="267004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3.0 × 3.0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938528"/>
            <a:ext cx="7619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ROLE OR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212848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Roboto Slab"/>
              </a:rPr>
              <a:t>Person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807208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7B68EE"/>
                </a:solidFill>
                <a:latin typeface="Roboto"/>
              </a:rPr>
              <a:t>One-line tagline in italic, sets the voice.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10128"/>
            <a:ext cx="761969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Title / position / affiliation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Background or experience point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Course role: what they teach or coach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7B68EE"/>
                </a:solidFill>
                <a:latin typeface="Roboto Medium"/>
              </a:rPr>
              <a:t>●  </a:t>
            </a:r>
            <a:r>
              <a:rPr sz="1300">
                <a:solidFill>
                  <a:srgbClr val="B0B8C4"/>
                </a:solidFill>
                <a:latin typeface="Roboto Medium"/>
              </a:rPr>
              <a:t>Reach: how students contact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5230368"/>
            <a:ext cx="7619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B0B8C4"/>
                </a:solidFill>
                <a:latin typeface="Roboto Slab Light"/>
              </a:rPr>
              <a:t>“A short pull-quote that captures this person's perspective.”</a:t>
            </a:r>
          </a:p>
        </p:txBody>
      </p:sp>
      <p:pic>
        <p:nvPicPr>
          <p:cNvPr id="18" name="Picture 17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Meet Your Mentors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Five voices you'll hear all semester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2376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15" name="Oval 14"/>
          <p:cNvSpPr/>
          <p:nvPr/>
        </p:nvSpPr>
        <p:spPr>
          <a:xfrm>
            <a:off x="3002203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38779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2203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0763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0763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20" name="Oval 19"/>
          <p:cNvSpPr/>
          <p:nvPr/>
        </p:nvSpPr>
        <p:spPr>
          <a:xfrm>
            <a:off x="5318607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55183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18607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167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25" name="Oval 24"/>
          <p:cNvSpPr/>
          <p:nvPr/>
        </p:nvSpPr>
        <p:spPr>
          <a:xfrm>
            <a:off x="7635011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71587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011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571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571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30" name="Oval 29"/>
          <p:cNvSpPr/>
          <p:nvPr/>
        </p:nvSpPr>
        <p:spPr>
          <a:xfrm>
            <a:off x="9951415" y="2304288"/>
            <a:ext cx="1554480" cy="155448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87991" y="2340864"/>
            <a:ext cx="1481328" cy="1481328"/>
          </a:xfrm>
          <a:prstGeom prst="ellipse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51415" y="29718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0B8C4"/>
                </a:solidFill>
                <a:latin typeface="Roboto Black"/>
              </a:rPr>
              <a:t>#5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9975" y="404164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Roboto Black"/>
              </a:rPr>
              <a:t>First Lastname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9975" y="43159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0B8C4"/>
                </a:solidFill>
                <a:latin typeface="Roboto Medium"/>
              </a:rPr>
              <a:t>Role / Title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18888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B0B8C4"/>
                </a:solidFill>
                <a:latin typeface="Roboto"/>
              </a:rPr>
              <a:t>Short framing line that sets up why these people matter.</a:t>
            </a:r>
          </a:p>
        </p:txBody>
      </p:sp>
      <p:pic>
        <p:nvPicPr>
          <p:cNvPr id="36" name="Picture 3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 dirty="0">
                <a:solidFill>
                  <a:srgbClr val="FFFFFF"/>
                </a:solidFill>
                <a:latin typeface="Roboto Slab Light"/>
              </a:rPr>
              <a:t>Info Bar &amp; Stats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Quick numeric summary at the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3938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3666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FOUNDATION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3666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1938528"/>
            <a:ext cx="3423818" cy="12801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7B6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804" y="2103120"/>
            <a:ext cx="320436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0B8C4"/>
                </a:solidFill>
                <a:latin typeface="Roboto Black"/>
              </a:rPr>
              <a:t>ENGAGEMENT PACKETS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804" y="2414016"/>
            <a:ext cx="320436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7B68EE"/>
                </a:solidFill>
                <a:latin typeface="Roboto Slab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38728"/>
            <a:ext cx="108200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Use this layout when the slide's job is to anchor a quantitative claim: course structure, grading weights, time commitment.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53128"/>
            <a:ext cx="108200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Each stat sits in its own bordered tile with centered content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Values use Roboto Slab in the slide accent color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7B68EE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Keep to 3 or 4 stats: more crowds the row</a:t>
            </a:r>
          </a:p>
        </p:txBody>
      </p:sp>
      <p:pic>
        <p:nvPicPr>
          <p:cNvPr id="21" name="Picture 20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313432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79192" y="365760"/>
            <a:ext cx="9146743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 dirty="0">
                <a:solidFill>
                  <a:srgbClr val="FFFFFF"/>
                </a:solidFill>
                <a:latin typeface="Roboto Slab Light"/>
              </a:rPr>
              <a:t>Three-Card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For Unit 1 / Unit 2 / Unit 3 or any 3-way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Each module breaks into three units. Each unit has one Foundation Lab; the Engagement Packet sits inside Unit 3.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640080" cy="219456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25880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0472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UNIT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Build the foundation. Concepts, environment setup, and first hands-on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8698" y="2670048"/>
            <a:ext cx="640080" cy="219456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8778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73370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BCD4"/>
                </a:solidFill>
                <a:latin typeface="Roboto Black"/>
              </a:rPr>
              <a:t>UNIT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370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Training+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370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Apply the foundation. Deeper exercises, more autonomy, fewer guardrails.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1596" y="2670048"/>
            <a:ext cx="640080" cy="21945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91676" y="2670048"/>
            <a:ext cx="2814218" cy="21945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56268" y="2779776"/>
            <a:ext cx="24850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UNIT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6268" y="3017520"/>
            <a:ext cx="248503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6268" y="3383280"/>
            <a:ext cx="2485034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Client work. Combine the unit's skills into the Engagement Packet deliverable.</a:t>
            </a:r>
          </a:p>
        </p:txBody>
      </p:sp>
      <p:pic>
        <p:nvPicPr>
          <p:cNvPr id="26" name="Picture 25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911095" cy="868680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6855" y="365760"/>
            <a:ext cx="954908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 dirty="0">
                <a:solidFill>
                  <a:srgbClr val="FFFFFF"/>
                </a:solidFill>
                <a:latin typeface="Roboto Slab Light"/>
              </a:rPr>
              <a:t>Warning / Hard-Truth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Use sparingly: when weight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READ THIS TWICE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Roboto Slab"/>
              </a:rPr>
              <a:t>A statement that needs to land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44368"/>
            <a:ext cx="640080" cy="1371600"/>
          </a:xfrm>
          <a:prstGeom prst="rect">
            <a:avLst/>
          </a:prstGeom>
          <a:solidFill>
            <a:srgbClr val="FF2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25880" y="2944368"/>
            <a:ext cx="10180015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0472" y="305409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F2641"/>
                </a:solidFill>
                <a:latin typeface="Roboto Black"/>
              </a:rPr>
              <a:t>THE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29184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Stated in one sentence, no softening.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657600"/>
            <a:ext cx="98508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Explanation of the rule, the rationale, and what happens if it's ignored. Body text stays calm even when the topic is sharp.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44568"/>
            <a:ext cx="10820095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one: concrete consequence or example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two: what the safety net looks like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>
                <a:solidFill>
                  <a:srgbClr val="FF2641"/>
                </a:solidFill>
                <a:latin typeface="Roboto Medium"/>
              </a:rPr>
              <a:t>●  </a:t>
            </a:r>
            <a:r>
              <a:rPr sz="1400">
                <a:solidFill>
                  <a:srgbClr val="B0B8C4"/>
                </a:solidFill>
                <a:latin typeface="Roboto Medium"/>
              </a:rPr>
              <a:t>Supporting point three: what counts as the line</a:t>
            </a:r>
          </a:p>
        </p:txBody>
      </p:sp>
      <p:pic>
        <p:nvPicPr>
          <p:cNvPr id="18" name="Picture 17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911095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76855" y="365760"/>
            <a:ext cx="9549080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Contact &amp; Support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How to reach me when you need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DISCORD FIRST, EMAIL FOR ANYTHING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Roboto Slab"/>
              </a:rPr>
              <a:t>How we talk to each 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07208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0B8C4"/>
                </a:solidFill>
                <a:latin typeface="Roboto Medium"/>
              </a:rPr>
              <a:t>Discord for general questions and peer help. Email for anything personal or FERPA-sensitive. Calendly for 1-on-1 time. Tuesday 6 PM Central drop-in Zoom.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B68EE"/>
                </a:solidFill>
                <a:latin typeface="Roboto Black"/>
              </a:rPr>
              <a:t>DISCORD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Post in #course-questions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6543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1135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john.newsom@utsa.edu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7287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1879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BCD4"/>
                </a:solidFill>
                <a:latin typeface="Roboto Black"/>
              </a:rPr>
              <a:t>CALENDLY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1:1 by appointment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38031" y="4041648"/>
            <a:ext cx="2567863" cy="12801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2623" y="4169664"/>
            <a:ext cx="2238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169E1"/>
                </a:solidFill>
                <a:latin typeface="Roboto Black"/>
              </a:rPr>
              <a:t>ZOOM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623" y="4425696"/>
            <a:ext cx="22386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Tuesdays 6 PM Central</a:t>
            </a:r>
          </a:p>
        </p:txBody>
      </p:sp>
      <p:pic>
        <p:nvPicPr>
          <p:cNvPr id="25" name="Picture 2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709928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5688" y="365760"/>
            <a:ext cx="9750247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Module title in the yellow band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Roboto Slab"/>
              </a:rPr>
              <a:t>3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CHAPTERS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Roboto Slab"/>
              </a:rPr>
              <a:t>Ch X &amp;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2076" y="1938528"/>
            <a:ext cx="342381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2076" y="2194560"/>
            <a:ext cx="342381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9F1C"/>
                </a:solidFill>
                <a:latin typeface="Roboto Slab"/>
              </a:rPr>
              <a:t>Client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90088"/>
            <a:ext cx="10820095" cy="9525"/>
          </a:xfrm>
          <a:prstGeom prst="rect">
            <a:avLst/>
          </a:prstGeom>
          <a:solidFill>
            <a:srgbClr val="2A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72968"/>
            <a:ext cx="108200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B8C4"/>
                </a:solidFill>
                <a:latin typeface="Roboto Medium"/>
              </a:rPr>
              <a:t>Module overview: one or two sentences setting up what this module covers and how it connects to the client engagement at the end.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50208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950208"/>
            <a:ext cx="914400" cy="54864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5020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41648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Foundation lab title goes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1335" y="3950208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Internal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608576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608576"/>
            <a:ext cx="914400" cy="54864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60857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00016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Foundation lab title goes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1335" y="4608576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26A"/>
                </a:solidFill>
                <a:latin typeface="Roboto Black"/>
              </a:rPr>
              <a:t>Internal Training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66944"/>
            <a:ext cx="10820095" cy="54864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5266944"/>
            <a:ext cx="914400" cy="5486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0E17"/>
                </a:solidFill>
                <a:latin typeface="Roboto Black"/>
              </a:rPr>
              <a:t>LAB X.3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358384"/>
            <a:ext cx="7619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Roboto Medium"/>
              </a:rPr>
              <a:t>Engagement Packet title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1335" y="5266944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9F1C"/>
                </a:solidFill>
                <a:latin typeface="Roboto Black"/>
              </a:rPr>
              <a:t>Client Billable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2368" y="1691640"/>
            <a:ext cx="1709928" cy="1709928"/>
          </a:xfrm>
          <a:prstGeom prst="roundRect">
            <a:avLst/>
          </a:prstGeom>
          <a:noFill/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02368" y="2194560"/>
            <a:ext cx="170992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8C4"/>
                </a:solidFill>
                <a:latin typeface="Roboto Black"/>
              </a:rPr>
              <a:t>CLIENT
LOGO</a:t>
            </a:r>
          </a:p>
        </p:txBody>
      </p:sp>
      <p:pic>
        <p:nvPicPr>
          <p:cNvPr id="35" name="Picture 3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554480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Roboto Slab Light"/>
              </a:rPr>
              <a:t>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0240" y="365760"/>
            <a:ext cx="9905695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Stacked Callouts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When the content is a sequence of weighted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38528"/>
            <a:ext cx="640080" cy="1143000"/>
          </a:xfrm>
          <a:prstGeom prst="rect">
            <a:avLst/>
          </a:prstGeom>
          <a:solidFill>
            <a:srgbClr val="00D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25880" y="193852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0472" y="204825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D26A"/>
                </a:solidFill>
                <a:latin typeface="Roboto Black"/>
              </a:rPr>
              <a:t>DO THIS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28600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Practice as you 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65176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First action item. Specific, time-bounded, achievable in the next 24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18688"/>
            <a:ext cx="640080" cy="1143000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25880" y="321868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90472" y="332841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FEC618"/>
                </a:solidFill>
                <a:latin typeface="Roboto Black"/>
              </a:rPr>
              <a:t>HEADS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56616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One thing to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93192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A caution that's not a hard rule. Something that trips students up if they don't notice.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498848"/>
            <a:ext cx="640080" cy="11430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25880" y="4498848"/>
            <a:ext cx="10180015" cy="1143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90472" y="4608576"/>
            <a:ext cx="9850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00BCD4"/>
                </a:solidFill>
                <a:latin typeface="Roboto Black"/>
              </a:rPr>
              <a:t>USEFUL TO 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846320"/>
            <a:ext cx="9850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Roboto Black"/>
              </a:rPr>
              <a:t>Why this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5212080"/>
            <a:ext cx="98508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0B8C4"/>
                </a:solidFill>
                <a:latin typeface="Roboto Medium"/>
              </a:rPr>
              <a:t>Background context that helps the rest stick. Goes last because it's framing, not action.</a:t>
            </a:r>
          </a:p>
        </p:txBody>
      </p:sp>
      <p:pic>
        <p:nvPicPr>
          <p:cNvPr id="25" name="Picture 24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709928" cy="86868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rIns="201168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Roboto Slab Light"/>
              </a:rPr>
              <a:t>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075688" y="365760"/>
            <a:ext cx="9750247" cy="8686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l"/>
            <a:r>
              <a:rPr sz="3200" b="1">
                <a:solidFill>
                  <a:srgbClr val="FFFFFF"/>
                </a:solidFill>
                <a:latin typeface="Roboto Slab Light"/>
              </a:rPr>
              <a:t>Rules &amp; Acknowledgment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60175" cy="384048"/>
          </a:xfrm>
          <a:prstGeom prst="rect">
            <a:avLst/>
          </a:prstGeom>
          <a:solidFill>
            <a:srgbClr val="FEC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36576" rIns="164592" bIns="36576" rtlCol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Roboto Slab"/>
              </a:rPr>
              <a:t>Numbered rules with an ack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" cy="384048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18488"/>
            <a:ext cx="11460175" cy="4645152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" cy="4645152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6227064"/>
            <a:ext cx="11460175" cy="36576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00">
                <a:solidFill>
                  <a:srgbClr val="7B68EE"/>
                </a:solidFill>
                <a:latin typeface="Roboto Black"/>
              </a:rPr>
              <a:t>THE FOUR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50008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350008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50008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423160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642616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54096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54096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127248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346704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758184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58184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758184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831336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050792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62272"/>
            <a:ext cx="10820095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4462272"/>
            <a:ext cx="502920" cy="594360"/>
          </a:xfrm>
          <a:prstGeom prst="rect">
            <a:avLst/>
          </a:prstGeom>
          <a:solidFill>
            <a:srgbClr val="7B6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462272"/>
            <a:ext cx="502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Roboto Slab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535424"/>
            <a:ext cx="998799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Roboto Black"/>
              </a:rPr>
              <a:t>Rule title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4754880"/>
            <a:ext cx="99879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0B8C4"/>
                </a:solidFill>
                <a:latin typeface="Roboto Medium"/>
              </a:rPr>
              <a:t>One-sentence explanation of what this rule means in practice.</a:t>
            </a:r>
          </a:p>
        </p:txBody>
      </p:sp>
      <p:pic>
        <p:nvPicPr>
          <p:cNvPr id="31" name="Picture 30" descr="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6400800"/>
            <a:ext cx="2103120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871</Words>
  <Application>Microsoft Macintosh PowerPoint</Application>
  <PresentationFormat>Widescreen</PresentationFormat>
  <Paragraphs>159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Roboto</vt:lpstr>
      <vt:lpstr>Roboto Black</vt:lpstr>
      <vt:lpstr>Roboto Medium</vt:lpstr>
      <vt:lpstr>Roboto Slab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Newsom</cp:lastModifiedBy>
  <cp:revision>2</cp:revision>
  <dcterms:created xsi:type="dcterms:W3CDTF">2013-01-27T09:14:16Z</dcterms:created>
  <dcterms:modified xsi:type="dcterms:W3CDTF">2026-05-22T21:12:12Z</dcterms:modified>
  <cp:category/>
</cp:coreProperties>
</file>